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65760" cy="49971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Habits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2004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00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Teresa Torres' framework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building products customers love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strategic framing from Tim Herbig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Teresa Torres — Product Discovery Coach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of </a:t>
            </a:r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Discovery Habits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80,000+ copies sold worldwide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Coached 7,000+ product people through Product Talk Academy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working with product teams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Product Talk — one of the most widely-read product blogs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range from early-stage startups to Fortune 500s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960120"/>
            <a:ext cx="2926080" cy="228600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960120"/>
            <a:ext cx="64008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08192" y="96012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product teams are customer-centric. They talk to customers every week. They generate ideas based on real customer needs, and they test those ideas before they build them."  — Teresa Torres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86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Talk Academy  ·  producttalk.org  ·  Continuous Discovery Habits (2021)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done once is discovery done wrong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40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phase at start of project, then stop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write specs and hand off to designers and engineers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 on features built over months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arrives too late to change course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optimise for output: shipping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84048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nobody uses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expensive feedback loops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solving the wrong problems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treated as a one-time gate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calcify unchallenged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57600"/>
            <a:ext cx="6400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657600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feature ships, the team has forgotten why they made half the decisions they made. The world has moved 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is not a phase. It's a habit.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discovery is the practice of conducting small research activities on a regular cadence — at minimum weekly — by the team who builds the product.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05740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03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phase — a recurring habit embedded in how the team works every 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05740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103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01568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Team-led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delegated to a researcher — the trio who builds the product does the discovering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05740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103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6208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Outcome-focused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always connected to a specific business outcome the team is trying to drive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15968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315968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be customer-centric without being in continuous contact with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measuring what you ship. Start measuring what changes.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 mindset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Outcome mindset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shipped 12 features this quarter"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"Checkout conversion increased by 8%"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delivered the roadmap"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"Customers are completing the task faster"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finished on time"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reduced support tickets by 30%"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971800"/>
            <a:ext cx="8229600" cy="438912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outcome is a change in customer behaviour that drives business results. It is not a feature, a project, or a deliverable.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8229600" cy="804672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3566160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team is assigned an outcome instead of a feature, they are free to discover the best solution — rather than executing a predetermined 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without strategy is just exploring. Strategy without discovery is just guessing.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Herbig — Real Progress (2024)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31920" y="1463040"/>
            <a:ext cx="2194560" cy="16459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3108960"/>
            <a:ext cx="2194560" cy="-16459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3108960"/>
            <a:ext cx="43891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priorities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direction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research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188720"/>
            <a:ext cx="1645920" cy="54864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0" y="2834640"/>
            <a:ext cx="1645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645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11887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OKRs: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prevents OKRs from becoming generic metrics. It defines why the team is targeting this market.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9933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→ Discovery: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defined OKRs focus discovery on the most critical uncertainties. Without them, discovery sprawls.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7980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Strategy: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problems from discovery refine strategic direction. The wheel turns in both directions.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24528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224528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because a user problem exists does not mean that you need to solve it." — Tim Herbig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is a team sport, not a PM's job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94560" cy="1828800"/>
          </a:xfrm>
          <a:prstGeom prst="ellipse">
            <a:avLst/>
          </a:prstGeom>
          <a:solidFill>
            <a:srgbClr val="028090">
              <a:alpha val="5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05840"/>
            <a:ext cx="2194560" cy="1828800"/>
          </a:xfrm>
          <a:prstGeom prst="ellipse">
            <a:avLst/>
          </a:prstGeom>
          <a:solidFill>
            <a:srgbClr val="00A896">
              <a:alpha val="5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011680"/>
            <a:ext cx="2194560" cy="1828800"/>
          </a:xfrm>
          <a:prstGeom prst="ellipse">
            <a:avLst/>
          </a:prstGeom>
          <a:solidFill>
            <a:srgbClr val="057A8A">
              <a:alpha val="55000"/>
            </a:srgbClr>
          </a:solidFill>
          <a:ln w="19050">
            <a:solidFill>
              <a:srgbClr val="05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005840"/>
            <a:ext cx="38404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47488" y="135331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outcome. Connects business strategy to customer needs.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10312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103120"/>
            <a:ext cx="38404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245059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opportunities and solutions. Leads interview sessions.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20040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200400"/>
            <a:ext cx="38404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3236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54787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feasibility. Brings technical creativity to ideation.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97680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297680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trio should discover together, not sequentially. This is what makes the team move fast without moving wrong.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live in your customers — not in your backlog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opportunity is any customer need, pain point, or desire that, if addressed, could help the team achieve its desired outcome.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26060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28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39112"/>
            <a:ext cx="2423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are trying to accomplish. The jobs they want done. Often the most stable category — needs change slowly.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691640"/>
            <a:ext cx="2606040" cy="292608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728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039112"/>
            <a:ext cx="2423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Friction, frustration, or barriers they experience today. High emotional charge — these are the opportunities customers feel most strongly.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691640"/>
            <a:ext cx="26060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728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2039112"/>
            <a:ext cx="2423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they wish existed. Gaps they feel but haven't fully articulated. Often the most creative and differentiated opportunity space.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82296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587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are not solutions — they are the reason a solution would be valuable.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43400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343400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jumping straight to solutions before the opportunity is clearly understood. Teams that skip this step build the right thing for the wrong reason.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the full landscape of customer needs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2194560" cy="4572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417320"/>
            <a:ext cx="-320040" cy="41148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1828800"/>
            <a:ext cx="2377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240280"/>
            <a:ext cx="0" cy="22860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68880"/>
            <a:ext cx="1828800" cy="347472"/>
          </a:xfrm>
          <a:prstGeom prst="rect">
            <a:avLst/>
          </a:prstGeom>
          <a:solidFill>
            <a:srgbClr val="E0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 Sub-opportunity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1417320"/>
            <a:ext cx="365760" cy="114300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560320"/>
            <a:ext cx="2377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65960" y="2971800"/>
            <a:ext cx="0" cy="22860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200400"/>
            <a:ext cx="1828800" cy="347472"/>
          </a:xfrm>
          <a:prstGeom prst="rect">
            <a:avLst/>
          </a:prstGeom>
          <a:solidFill>
            <a:srgbClr val="E0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2004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 Sub-opportunity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00200" y="1417320"/>
            <a:ext cx="1051560" cy="187452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3291840"/>
            <a:ext cx="2377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6304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3703320"/>
            <a:ext cx="0" cy="22860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3931920"/>
            <a:ext cx="1828800" cy="347472"/>
          </a:xfrm>
          <a:prstGeom prst="rect">
            <a:avLst/>
          </a:prstGeom>
          <a:solidFill>
            <a:srgbClr val="E0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3931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 Sub-opportunity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0" y="9601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0" y="9601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9392" y="978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79392" y="12618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opportunities contain sub-opportunities, which can be broken down further.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0" y="18745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0" y="18745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1892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Discovered, not invented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79392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come from customers, not from internal brainstorming sessions.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0" y="27889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0" y="27889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2807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79392" y="30906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interviews surface new opportunities. The space changes over time.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0" y="37033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0" y="37033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3721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Strategy-filtered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79392" y="4005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opportunities connected to the current outcome and strategic direction belong in the tree.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diagram to connect outcome, opportunities, solutions, and tests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960120"/>
            <a:ext cx="2103120" cy="4572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960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417320"/>
            <a:ext cx="-1234440" cy="27432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91640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37160" cy="27432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1691640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1417320"/>
            <a:ext cx="1508760" cy="27432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691640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2075688"/>
            <a:ext cx="0" cy="301752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377440"/>
            <a:ext cx="11887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77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075688"/>
            <a:ext cx="0" cy="301752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3080" y="2377440"/>
            <a:ext cx="11887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2377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2075688"/>
            <a:ext cx="0" cy="301752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377440"/>
            <a:ext cx="11887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377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724912"/>
            <a:ext cx="0" cy="29260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17520"/>
            <a:ext cx="1097280" cy="320040"/>
          </a:xfrm>
          <a:prstGeom prst="rect">
            <a:avLst/>
          </a:prstGeom>
          <a:solidFill>
            <a:srgbClr val="E0F4F4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77440" y="2724912"/>
            <a:ext cx="0" cy="29260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3017520"/>
            <a:ext cx="1097280" cy="320040"/>
          </a:xfrm>
          <a:prstGeom prst="rect">
            <a:avLst/>
          </a:prstGeom>
          <a:solidFill>
            <a:srgbClr val="E0F4F4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2724912"/>
            <a:ext cx="0" cy="29260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3017520"/>
            <a:ext cx="1097280" cy="320040"/>
          </a:xfrm>
          <a:prstGeom prst="rect">
            <a:avLst/>
          </a:prstGeom>
          <a:solidFill>
            <a:srgbClr val="E0F4F4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960120"/>
            <a:ext cx="822960" cy="36576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960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outcome — defines scope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1691640"/>
            <a:ext cx="8229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1719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— customer needs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377440"/>
            <a:ext cx="82296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0" y="2404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— ideas to test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017520"/>
            <a:ext cx="8229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017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experiments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566160"/>
            <a:ext cx="8503920" cy="68580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356616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566160"/>
            <a:ext cx="8275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OST is never finished. It is a map of what the team currently knows — and doesn't know. It replaces the feature roadmap during discovery.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Discovery Habits — Introduction Course</dc:title>
  <dc:subject>PptxGenJS Presentation</dc:subject>
  <dc:creator>Stefan</dc:creator>
  <cp:lastModifiedBy>Stefan</cp:lastModifiedBy>
  <cp:revision>1</cp:revision>
  <dcterms:created xsi:type="dcterms:W3CDTF">2026-04-28T08:06:50Z</dcterms:created>
  <dcterms:modified xsi:type="dcterms:W3CDTF">2026-04-28T08:06:50Z</dcterms:modified>
</cp:coreProperties>
</file>